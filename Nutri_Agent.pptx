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85" r:id="rId5"/>
    <p:sldId id="278" r:id="rId6"/>
    <p:sldId id="281" r:id="rId7"/>
    <p:sldId id="279" r:id="rId8"/>
    <p:sldId id="291" r:id="rId9"/>
    <p:sldId id="262" r:id="rId10"/>
    <p:sldId id="264" r:id="rId11"/>
    <p:sldId id="277" r:id="rId12"/>
    <p:sldId id="290" r:id="rId13"/>
    <p:sldId id="292" r:id="rId14"/>
    <p:sldId id="293" r:id="rId15"/>
    <p:sldId id="286" r:id="rId16"/>
    <p:sldId id="280" r:id="rId17"/>
    <p:sldId id="288" r:id="rId18"/>
    <p:sldId id="289"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7755F6-6161-45BA-8A63-7A022A3BB895}" v="1" dt="2026-07-14T05:04:53.45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42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Drishti" userId="1562d6fa-893e-4949-8e31-e1be6aac81db" providerId="ADAL" clId="{6D4A2697-E1D7-4D9D-AFF0-FB5F1305AA28}"/>
    <pc:docChg chg="custSel modSld">
      <pc:chgData name="Drishti" userId="1562d6fa-893e-4949-8e31-e1be6aac81db" providerId="ADAL" clId="{6D4A2697-E1D7-4D9D-AFF0-FB5F1305AA28}" dt="2026-07-14T05:22:52.599" v="18" actId="14100"/>
      <pc:docMkLst>
        <pc:docMk/>
      </pc:docMkLst>
      <pc:sldChg chg="addSp delSp modSp mod">
        <pc:chgData name="Drishti" userId="1562d6fa-893e-4949-8e31-e1be6aac81db" providerId="ADAL" clId="{6D4A2697-E1D7-4D9D-AFF0-FB5F1305AA28}" dt="2026-07-14T05:22:52.599" v="18" actId="14100"/>
        <pc:sldMkLst>
          <pc:docMk/>
          <pc:sldMk cId="1229047658" sldId="288"/>
        </pc:sldMkLst>
        <pc:spChg chg="mod">
          <ac:chgData name="Drishti" userId="1562d6fa-893e-4949-8e31-e1be6aac81db" providerId="ADAL" clId="{6D4A2697-E1D7-4D9D-AFF0-FB5F1305AA28}" dt="2026-07-14T05:06:32.623" v="7" actId="1076"/>
          <ac:spMkLst>
            <pc:docMk/>
            <pc:sldMk cId="1229047658" sldId="288"/>
            <ac:spMk id="3" creationId="{4837D5EE-379B-FDC5-0854-8AC81D31FADF}"/>
          </ac:spMkLst>
        </pc:spChg>
        <pc:spChg chg="mod">
          <ac:chgData name="Drishti" userId="1562d6fa-893e-4949-8e31-e1be6aac81db" providerId="ADAL" clId="{6D4A2697-E1D7-4D9D-AFF0-FB5F1305AA28}" dt="2026-07-14T05:06:29.018" v="6" actId="1076"/>
          <ac:spMkLst>
            <pc:docMk/>
            <pc:sldMk cId="1229047658" sldId="288"/>
            <ac:spMk id="6" creationId="{3F1C7BCA-5DD7-F4D3-A937-D1C56976DA01}"/>
          </ac:spMkLst>
        </pc:spChg>
        <pc:spChg chg="add del mod">
          <ac:chgData name="Drishti" userId="1562d6fa-893e-4949-8e31-e1be6aac81db" providerId="ADAL" clId="{6D4A2697-E1D7-4D9D-AFF0-FB5F1305AA28}" dt="2026-07-14T05:21:03.164" v="13" actId="478"/>
          <ac:spMkLst>
            <pc:docMk/>
            <pc:sldMk cId="1229047658" sldId="288"/>
            <ac:spMk id="8" creationId="{FC7C22FB-C8E4-BA28-61F8-BA4F52FBDC19}"/>
          </ac:spMkLst>
        </pc:spChg>
        <pc:graphicFrameChg chg="add del mod">
          <ac:chgData name="Drishti" userId="1562d6fa-893e-4949-8e31-e1be6aac81db" providerId="ADAL" clId="{6D4A2697-E1D7-4D9D-AFF0-FB5F1305AA28}" dt="2026-07-14T05:04:57.312" v="2" actId="478"/>
          <ac:graphicFrameMkLst>
            <pc:docMk/>
            <pc:sldMk cId="1229047658" sldId="288"/>
            <ac:graphicFrameMk id="2" creationId="{B56A5227-DB28-9083-3E33-9E75C07DB043}"/>
          </ac:graphicFrameMkLst>
        </pc:graphicFrameChg>
        <pc:picChg chg="del">
          <ac:chgData name="Drishti" userId="1562d6fa-893e-4949-8e31-e1be6aac81db" providerId="ADAL" clId="{6D4A2697-E1D7-4D9D-AFF0-FB5F1305AA28}" dt="2026-07-14T05:04:45.204" v="0" actId="478"/>
          <ac:picMkLst>
            <pc:docMk/>
            <pc:sldMk cId="1229047658" sldId="288"/>
            <ac:picMk id="4" creationId="{AD88C341-1F2F-9B6F-593F-2917E7E23DCB}"/>
          </ac:picMkLst>
        </pc:picChg>
        <pc:picChg chg="add del mod">
          <ac:chgData name="Drishti" userId="1562d6fa-893e-4949-8e31-e1be6aac81db" providerId="ADAL" clId="{6D4A2697-E1D7-4D9D-AFF0-FB5F1305AA28}" dt="2026-07-14T05:22:43.581" v="14" actId="478"/>
          <ac:picMkLst>
            <pc:docMk/>
            <pc:sldMk cId="1229047658" sldId="288"/>
            <ac:picMk id="7" creationId="{B3887577-816B-B63A-3BBE-5B6CDBCB2632}"/>
          </ac:picMkLst>
        </pc:picChg>
        <pc:picChg chg="add mod">
          <ac:chgData name="Drishti" userId="1562d6fa-893e-4949-8e31-e1be6aac81db" providerId="ADAL" clId="{6D4A2697-E1D7-4D9D-AFF0-FB5F1305AA28}" dt="2026-07-14T05:22:52.599" v="18" actId="14100"/>
          <ac:picMkLst>
            <pc:docMk/>
            <pc:sldMk cId="1229047658" sldId="288"/>
            <ac:picMk id="10" creationId="{F840091F-DA91-F01F-3558-119ADF3F30B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187904565"/>
              </p:ext>
            </p:extLst>
          </p:nvPr>
        </p:nvGraphicFramePr>
        <p:xfrm>
          <a:off x="1206162" y="3055758"/>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2000" u="none" strike="noStrike" cap="none" dirty="0"/>
                        <a:t>Student Name</a:t>
                      </a:r>
                      <a:endParaRPr sz="20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2000" u="none" strike="noStrike" cap="none" dirty="0"/>
                        <a:t>Recent Passport Photo</a:t>
                      </a:r>
                      <a:endParaRPr sz="20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2000" b="0" i="0" u="none" strike="noStrike" cap="none" dirty="0">
                          <a:solidFill>
                            <a:srgbClr val="000000"/>
                          </a:solidFill>
                          <a:latin typeface="Arial"/>
                          <a:ea typeface="Calibri"/>
                          <a:cs typeface="Arial"/>
                          <a:sym typeface="Calibri"/>
                        </a:rPr>
                        <a:t>Email ID </a:t>
                      </a:r>
                      <a:endParaRPr sz="20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2000" b="0" i="0" u="none" strike="noStrike" cap="none" dirty="0">
                          <a:solidFill>
                            <a:srgbClr val="000000"/>
                          </a:solidFill>
                          <a:latin typeface="Arial"/>
                          <a:ea typeface="Calibri"/>
                          <a:cs typeface="Arial"/>
                          <a:sym typeface="Calibri"/>
                        </a:rPr>
                        <a:t>Mobile number</a:t>
                      </a:r>
                      <a:endParaRPr sz="20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2000" b="0" i="0" u="none" strike="noStrike" cap="none" dirty="0">
                          <a:solidFill>
                            <a:srgbClr val="000000"/>
                          </a:solidFill>
                          <a:latin typeface="Arial"/>
                          <a:ea typeface="Calibri"/>
                          <a:cs typeface="Arial"/>
                          <a:sym typeface="Calibri"/>
                        </a:rPr>
                        <a:t>[WhatsApp] </a:t>
                      </a:r>
                      <a:endParaRPr sz="20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endParaRPr lang="en-US" sz="1800" dirty="0"/>
                    </a:p>
                    <a:p>
                      <a:pPr marL="0" marR="0" lvl="0" indent="0" algn="ctr" rtl="0">
                        <a:spcBef>
                          <a:spcPts val="0"/>
                        </a:spcBef>
                        <a:spcAft>
                          <a:spcPts val="0"/>
                        </a:spcAft>
                        <a:buNone/>
                      </a:pPr>
                      <a:r>
                        <a:rPr lang="en-US" sz="1800" dirty="0"/>
                        <a:t>Mayank Kumar</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US" sz="1600" dirty="0"/>
                    </a:p>
                    <a:p>
                      <a:pPr marL="0" marR="0" lvl="0" indent="0" algn="ctr" rtl="0">
                        <a:spcBef>
                          <a:spcPts val="0"/>
                        </a:spcBef>
                        <a:spcAft>
                          <a:spcPts val="0"/>
                        </a:spcAft>
                        <a:buNone/>
                      </a:pPr>
                      <a:r>
                        <a:rPr lang="en-US" sz="1600" dirty="0"/>
                        <a:t>mkbk62077@gmail.com</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US" sz="1800" dirty="0"/>
                    </a:p>
                    <a:p>
                      <a:pPr marL="0" marR="0" lvl="0" indent="0" algn="ctr" rtl="0">
                        <a:spcBef>
                          <a:spcPts val="0"/>
                        </a:spcBef>
                        <a:spcAft>
                          <a:spcPts val="0"/>
                        </a:spcAft>
                        <a:buNone/>
                      </a:pPr>
                      <a:r>
                        <a:rPr lang="en-US" sz="1800" dirty="0"/>
                        <a:t>8873788914</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a:stretch/>
        </p:blipFill>
        <p:spPr>
          <a:xfrm>
            <a:off x="3771900" y="4099337"/>
            <a:ext cx="1371600" cy="1050526"/>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800" b="1" dirty="0"/>
              <a:t>Domain of  Project – </a:t>
            </a:r>
            <a:r>
              <a:rPr lang="en-US" sz="2800" b="1" dirty="0">
                <a:highlight>
                  <a:srgbClr val="FFFF00"/>
                </a:highlight>
              </a:rPr>
              <a:t>[Healthcare]</a:t>
            </a:r>
            <a:endParaRPr lang="en-IN" sz="28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523220"/>
          </a:xfrm>
          <a:prstGeom prst="rect">
            <a:avLst/>
          </a:prstGeom>
          <a:noFill/>
        </p:spPr>
        <p:txBody>
          <a:bodyPr wrap="square" rtlCol="0">
            <a:spAutoFit/>
          </a:bodyPr>
          <a:lstStyle/>
          <a:p>
            <a:r>
              <a:rPr lang="en-US" sz="2800" b="1" dirty="0"/>
              <a:t>Project Tile – </a:t>
            </a:r>
            <a:r>
              <a:rPr lang="en-US" sz="2800" b="1" dirty="0">
                <a:highlight>
                  <a:srgbClr val="FFFF00"/>
                </a:highlight>
              </a:rPr>
              <a:t>[</a:t>
            </a:r>
            <a:r>
              <a:rPr lang="en-US" sz="2800" b="1" dirty="0">
                <a:solidFill>
                  <a:srgbClr val="002060"/>
                </a:solidFill>
                <a:highlight>
                  <a:srgbClr val="FFFF00"/>
                </a:highlight>
                <a:latin typeface="Times New Roman"/>
                <a:ea typeface="Times New Roman"/>
                <a:cs typeface="Times New Roman"/>
                <a:sym typeface="Times New Roman"/>
              </a:rPr>
              <a:t>– Nutrition Agent</a:t>
            </a:r>
            <a:r>
              <a:rPr lang="en-US" sz="2800" b="1" dirty="0">
                <a:highlight>
                  <a:srgbClr val="FFFF00"/>
                </a:highlight>
              </a:rPr>
              <a:t>]</a:t>
            </a:r>
            <a:endParaRPr lang="en-IN" sz="2800" b="1" dirty="0">
              <a:highlight>
                <a:srgbClr val="FFFF00"/>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Nutrition Agent</a:t>
            </a:r>
            <a:r>
              <a:rPr lang="en-US" dirty="0"/>
              <a:t> </a:t>
            </a:r>
          </a:p>
          <a:p>
            <a:pPr fontAlgn="base"/>
            <a:endParaRPr lang="en-US" b="1" dirty="0"/>
          </a:p>
          <a:p>
            <a:pPr fontAlgn="base"/>
            <a:r>
              <a:rPr lang="en-US" b="1" dirty="0"/>
              <a:t>The Challenge</a:t>
            </a:r>
            <a:r>
              <a:rPr lang="en-US" dirty="0"/>
              <a:t> </a:t>
            </a:r>
          </a:p>
          <a:p>
            <a:pPr fontAlgn="base"/>
            <a:r>
              <a:rPr lang="en-US" dirty="0"/>
              <a:t>Good nutrition is the foundation of health, but individuals often struggle with </a:t>
            </a:r>
            <a:r>
              <a:rPr lang="en-US" b="1" dirty="0"/>
              <a:t>diet planning, portion control, and tracking nutritional intake</a:t>
            </a:r>
            <a:r>
              <a:rPr lang="en-US" dirty="0"/>
              <a:t>. Information about healthy diets, disease-specific nutrition, and food composition is scattered across unreliable sources. Without </a:t>
            </a:r>
            <a:r>
              <a:rPr lang="en-US" b="1" dirty="0"/>
              <a:t>personalized, real-time guidance</a:t>
            </a:r>
            <a:r>
              <a:rPr lang="en-US" dirty="0"/>
              <a:t>, many fail to maintain balanced diets or make informed food choices. </a:t>
            </a:r>
          </a:p>
          <a:p>
            <a:pPr fontAlgn="base"/>
            <a:endParaRPr lang="en-US" dirty="0"/>
          </a:p>
          <a:p>
            <a:pPr fontAlgn="base"/>
            <a:r>
              <a:rPr lang="en-US" b="1" dirty="0"/>
              <a:t>The Objective</a:t>
            </a:r>
            <a:r>
              <a:rPr lang="en-US" dirty="0"/>
              <a:t> </a:t>
            </a:r>
          </a:p>
          <a:p>
            <a:pPr fontAlgn="base"/>
            <a:r>
              <a:rPr lang="en-US" dirty="0"/>
              <a:t>Build an </a:t>
            </a:r>
            <a:r>
              <a:rPr lang="en-US" b="1" dirty="0"/>
              <a:t>AI-powered Nutrition Agent</a:t>
            </a:r>
            <a:r>
              <a:rPr lang="en-US" dirty="0"/>
              <a:t> that delivers </a:t>
            </a:r>
            <a:r>
              <a:rPr lang="en-US" b="1" dirty="0"/>
              <a:t>personalized dietary insights and guidance</a:t>
            </a:r>
            <a:r>
              <a:rPr lang="en-US" dirty="0"/>
              <a:t> for individuals, families, and health professionals. The solution should: </a:t>
            </a:r>
          </a:p>
          <a:p>
            <a:pPr marL="285750" indent="-285750" fontAlgn="base">
              <a:buFont typeface="Arial" panose="020B0604020202020204" pitchFamily="34" charset="0"/>
              <a:buChar char="•"/>
            </a:pPr>
            <a:r>
              <a:rPr lang="en-US" b="1" dirty="0"/>
              <a:t>Personalized Diet Plans</a:t>
            </a:r>
            <a:r>
              <a:rPr lang="en-US" dirty="0"/>
              <a:t> – Recommend meals based on age, health conditions, allergies, cultural preferences, and fitness goals. </a:t>
            </a:r>
          </a:p>
          <a:p>
            <a:pPr marL="285750" indent="-285750" fontAlgn="base">
              <a:buFont typeface="Arial" panose="020B0604020202020204" pitchFamily="34" charset="0"/>
              <a:buChar char="•"/>
            </a:pPr>
            <a:r>
              <a:rPr lang="en-US" b="1" dirty="0"/>
              <a:t>Food Data RAG Retrieval</a:t>
            </a:r>
            <a:r>
              <a:rPr lang="en-US" dirty="0"/>
              <a:t> – Fetch and summarize nutritional values (calories, macros, vitamins) from reliable sources. </a:t>
            </a:r>
          </a:p>
          <a:p>
            <a:pPr marL="285750" indent="-285750" fontAlgn="base">
              <a:buFont typeface="Arial" panose="020B0604020202020204" pitchFamily="34" charset="0"/>
              <a:buChar char="•"/>
            </a:pPr>
            <a:r>
              <a:rPr lang="en-US" b="1" dirty="0"/>
              <a:t>Diet Tracking &amp; Feedback</a:t>
            </a:r>
            <a:r>
              <a:rPr lang="en-US" dirty="0"/>
              <a:t> – Allow users to log meals via text, images, or voice, and provide instant nutritional analysis. </a:t>
            </a:r>
          </a:p>
          <a:p>
            <a:pPr marL="285750" indent="-285750" fontAlgn="base">
              <a:buFont typeface="Arial" panose="020B0604020202020204" pitchFamily="34" charset="0"/>
              <a:buChar char="•"/>
            </a:pPr>
            <a:r>
              <a:rPr lang="en-US" b="1" dirty="0"/>
              <a:t>Preventive Health Focus</a:t>
            </a:r>
            <a:r>
              <a:rPr lang="en-US" dirty="0"/>
              <a:t> – Suggest diets for chronic disease management (e.g., diabetes-friendly or heart-healthy plans). </a:t>
            </a:r>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US" b="1" dirty="0"/>
              <a:t>Nutrition Knowledge Agent</a:t>
            </a:r>
            <a:r>
              <a:rPr lang="en-US" dirty="0"/>
              <a:t> (fetches nutritional 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Food Log &amp; Feedback Agent</a:t>
            </a:r>
            <a:r>
              <a:rPr lang="en-US" dirty="0"/>
              <a:t> (meal tracking + analysis) </a:t>
            </a:r>
          </a:p>
          <a:p>
            <a:pPr marL="285750" indent="-285750" fontAlgn="base">
              <a:buFont typeface="Arial" panose="020B0604020202020204" pitchFamily="34" charset="0"/>
              <a:buChar char="•"/>
            </a:pPr>
            <a:r>
              <a:rPr lang="en-US" b="1" dirty="0"/>
              <a:t>Visualization Dashboard</a:t>
            </a:r>
            <a:r>
              <a:rPr lang="en-US" dirty="0"/>
              <a:t> – Show daily/weekly nutrient intake, deficiencies, and progress toward health goals.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AI-Powered Nutrition Agent</a:t>
            </a:r>
          </a:p>
          <a:p>
            <a:r>
              <a:rPr lang="en-US" dirty="0"/>
              <a:t>The proposed solution is a </a:t>
            </a:r>
            <a:r>
              <a:rPr lang="en-US" b="1" dirty="0"/>
              <a:t>multi-agent AI-powered Nutrition Agent</a:t>
            </a:r>
            <a:r>
              <a:rPr lang="en-US" dirty="0"/>
              <a:t> built using </a:t>
            </a:r>
            <a:r>
              <a:rPr lang="en-US" b="1" dirty="0"/>
              <a:t>IBM Bob, IBM watsonx.ai, and Granite Models</a:t>
            </a:r>
            <a:r>
              <a:rPr lang="en-US" dirty="0"/>
              <a:t> to provide personalized, real-time dietary guidance. The system addresses challenges in diet planning, nutrition tracking, and preventive healthcare through an intelligent, modular architecture.</a:t>
            </a:r>
          </a:p>
          <a:p>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dirty="0"/>
              <a:t>The system consists of four key agents:</a:t>
            </a:r>
          </a:p>
          <a:p>
            <a:r>
              <a:rPr lang="en-US" b="1" dirty="0"/>
              <a:t>Nutrition Knowledge Agent</a:t>
            </a:r>
            <a:r>
              <a:rPr lang="en-US" dirty="0"/>
              <a:t> retrieves and summarizes nutritional information using RAG. </a:t>
            </a:r>
          </a:p>
          <a:p>
            <a:r>
              <a:rPr lang="en-US" b="1" dirty="0"/>
              <a:t>Diet Recommendation Agent</a:t>
            </a:r>
            <a:r>
              <a:rPr lang="en-US" dirty="0"/>
              <a:t> generates personalized meal plans based on user inputs such as age, health conditions, dietary preferences, and fitness goals. </a:t>
            </a:r>
          </a:p>
          <a:p>
            <a:r>
              <a:rPr lang="en-US" b="1" dirty="0"/>
              <a:t>Health Advisory Agent</a:t>
            </a:r>
            <a:r>
              <a:rPr lang="en-US" dirty="0"/>
              <a:t> provides preventive health suggestions, including disease-specific diets (e.g., diabetes-friendly or heart-healthy plans). </a:t>
            </a:r>
          </a:p>
          <a:p>
            <a:r>
              <a:rPr lang="en-US" b="1" dirty="0"/>
              <a:t>Food Log &amp; Feedback Agent</a:t>
            </a:r>
            <a:r>
              <a:rPr lang="en-US" dirty="0"/>
              <a:t> allows users to log meals via text, voice, or images and delivers instant nutritional analysis with actionable feedback. </a:t>
            </a:r>
          </a:p>
          <a:p>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r>
              <a:rPr lang="en-US" dirty="0"/>
              <a:t>IBM Bob is used to orchestrate agent workflows, while watsonx.ai ensures scalable model deployment, embeddings, and AI governance. Granite models power reasoning, summarization, and personalization.</a:t>
            </a:r>
          </a:p>
          <a:p>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5" name="Picture 4">
            <a:extLst>
              <a:ext uri="{FF2B5EF4-FFF2-40B4-BE49-F238E27FC236}">
                <a16:creationId xmlns:a16="http://schemas.microsoft.com/office/drawing/2014/main" id="{61F38907-89DE-28F7-316F-44E7DAB9309E}"/>
              </a:ext>
            </a:extLst>
          </p:cNvPr>
          <p:cNvPicPr>
            <a:picLocks noChangeAspect="1"/>
          </p:cNvPicPr>
          <p:nvPr/>
        </p:nvPicPr>
        <p:blipFill>
          <a:blip r:embed="rId3"/>
          <a:srcRect/>
          <a:stretch/>
        </p:blipFill>
        <p:spPr>
          <a:xfrm>
            <a:off x="4041468" y="1860506"/>
            <a:ext cx="7813861" cy="4512862"/>
          </a:xfrm>
          <a:prstGeom prst="rect">
            <a:avLst/>
          </a:prstGeom>
        </p:spPr>
      </p:pic>
      <p:sp>
        <p:nvSpPr>
          <p:cNvPr id="9" name="Rectangle 8">
            <a:extLst>
              <a:ext uri="{FF2B5EF4-FFF2-40B4-BE49-F238E27FC236}">
                <a16:creationId xmlns:a16="http://schemas.microsoft.com/office/drawing/2014/main" id="{6FFF7BC6-93D0-8D42-34B7-C226B1B96C2D}"/>
              </a:ext>
            </a:extLst>
          </p:cNvPr>
          <p:cNvSpPr/>
          <p:nvPr/>
        </p:nvSpPr>
        <p:spPr>
          <a:xfrm>
            <a:off x="4250700" y="2029968"/>
            <a:ext cx="2195819"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5917306" y="1568642"/>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5" name="Picture 4">
            <a:extLst>
              <a:ext uri="{FF2B5EF4-FFF2-40B4-BE49-F238E27FC236}">
                <a16:creationId xmlns:a16="http://schemas.microsoft.com/office/drawing/2014/main" id="{5DC7512A-0AA7-CC22-D1D2-C738BF12660E}"/>
              </a:ext>
            </a:extLst>
          </p:cNvPr>
          <p:cNvPicPr>
            <a:picLocks noChangeAspect="1"/>
          </p:cNvPicPr>
          <p:nvPr/>
        </p:nvPicPr>
        <p:blipFill>
          <a:blip r:embed="rId3"/>
          <a:srcRect/>
          <a:stretch/>
        </p:blipFill>
        <p:spPr>
          <a:xfrm>
            <a:off x="1371600" y="1167251"/>
            <a:ext cx="9217740" cy="5323665"/>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rcRect/>
          <a:stretch/>
        </p:blipFill>
        <p:spPr>
          <a:xfrm>
            <a:off x="736514" y="418131"/>
            <a:ext cx="9828777" cy="5716790"/>
          </a:xfrm>
          <a:prstGeom prst="rect">
            <a:avLst/>
          </a:prstGeom>
        </p:spPr>
      </p:pic>
      <p:sp>
        <p:nvSpPr>
          <p:cNvPr id="2" name="Rectangle 1">
            <a:extLst>
              <a:ext uri="{FF2B5EF4-FFF2-40B4-BE49-F238E27FC236}">
                <a16:creationId xmlns:a16="http://schemas.microsoft.com/office/drawing/2014/main" id="{E185156B-EA86-2A65-0C96-1EAD487C4950}"/>
              </a:ext>
            </a:extLst>
          </p:cNvPr>
          <p:cNvSpPr/>
          <p:nvPr/>
        </p:nvSpPr>
        <p:spPr>
          <a:xfrm>
            <a:off x="2074986" y="2549768"/>
            <a:ext cx="712176" cy="167055"/>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57150">
                <a:solidFill>
                  <a:srgbClr val="FF0000"/>
                </a:solidFill>
              </a:ln>
              <a:noFill/>
            </a:endParaRPr>
          </a:p>
        </p:txBody>
      </p:sp>
      <p:sp>
        <p:nvSpPr>
          <p:cNvPr id="4" name="Rectangle 3">
            <a:extLst>
              <a:ext uri="{FF2B5EF4-FFF2-40B4-BE49-F238E27FC236}">
                <a16:creationId xmlns:a16="http://schemas.microsoft.com/office/drawing/2014/main" id="{F136FA7B-35DA-177B-9F9B-260D7B0DB490}"/>
              </a:ext>
            </a:extLst>
          </p:cNvPr>
          <p:cNvSpPr/>
          <p:nvPr/>
        </p:nvSpPr>
        <p:spPr>
          <a:xfrm>
            <a:off x="2350478" y="3027483"/>
            <a:ext cx="999391" cy="167055"/>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57150">
                <a:solidFill>
                  <a:srgbClr val="FF0000"/>
                </a:solidFill>
              </a:ln>
              <a:noFill/>
            </a:endParaRPr>
          </a:p>
        </p:txBody>
      </p:sp>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tretch>
            <a:fillRect/>
          </a:stretch>
        </p:blipFill>
        <p:spPr>
          <a:xfrm>
            <a:off x="535570" y="675732"/>
            <a:ext cx="11468100" cy="61817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Nutrition Agent</a:t>
            </a:r>
          </a:p>
          <a:p>
            <a:r>
              <a:rPr lang="en-US" b="1"/>
              <a:t>Agentic AI</a:t>
            </a:r>
            <a:r>
              <a:rPr lang="en-US"/>
              <a:t> enables the Nutrition Agent to function as an intelligent, autonomous system rather than a simple chatbot.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nutritionist</a:t>
            </a:r>
            <a:r>
              <a:rPr lang="en-US"/>
              <a:t> that helps users maintain a healthy lifestyle.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rcRect/>
          <a:stretch/>
        </p:blipFill>
        <p:spPr>
          <a:xfrm>
            <a:off x="1189731" y="885593"/>
            <a:ext cx="9602700" cy="5715294"/>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rcRect/>
          <a:stretch/>
        </p:blipFill>
        <p:spPr>
          <a:xfrm>
            <a:off x="1330565" y="1004536"/>
            <a:ext cx="8955715" cy="528840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rcRect/>
          <a:stretch/>
        </p:blipFill>
        <p:spPr>
          <a:xfrm>
            <a:off x="1097497" y="800029"/>
            <a:ext cx="9997005" cy="5945011"/>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Nutrition Agent stands out by combining </a:t>
            </a:r>
            <a:r>
              <a:rPr lang="en-IN" sz="1800" b="1"/>
              <a:t>Agentic AI, RAG, and personalization</a:t>
            </a:r>
            <a:r>
              <a:rPr lang="en-IN" sz="1800"/>
              <a:t> into a single intelligent system.</a:t>
            </a:r>
          </a:p>
          <a:p>
            <a:endParaRPr lang="en-IN" sz="1800"/>
          </a:p>
          <a:p>
            <a:r>
              <a:rPr lang="en-IN" sz="1800" b="1"/>
              <a:t>Multi-Agent Intelligence</a:t>
            </a:r>
            <a:r>
              <a:rPr lang="en-IN" sz="1800"/>
              <a:t> – Instead of a single chatbot, multiple specialized agents collaborate to deliver accurate and context-aware nutrition guidance. </a:t>
            </a:r>
          </a:p>
          <a:p>
            <a:r>
              <a:rPr lang="en-IN" sz="1800" b="1"/>
              <a:t>RAG-Based Accuracy</a:t>
            </a:r>
            <a:r>
              <a:rPr lang="en-IN" sz="1800"/>
              <a:t> – Integrates real-time data retrieval with AI generation, reducing misinformation and ensuring trustworthy recommendations. </a:t>
            </a:r>
          </a:p>
          <a:p>
            <a:r>
              <a:rPr lang="en-IN" sz="1800" b="1"/>
              <a:t>Hyper-Personalization</a:t>
            </a:r>
            <a:r>
              <a:rPr lang="en-IN" sz="1800"/>
              <a:t> – Tailors diet plans based on health conditions, cultural preferences, and fitness goals. </a:t>
            </a:r>
          </a:p>
          <a:p>
            <a:r>
              <a:rPr lang="en-IN" sz="1800" b="1"/>
              <a:t>Real-Time Feedback Loop</a:t>
            </a:r>
            <a:r>
              <a:rPr lang="en-IN" sz="1800"/>
              <a:t> – Continuously adapts recommendations based on daily food logs and user </a:t>
            </a:r>
            <a:r>
              <a:rPr lang="en-IN" sz="1800" err="1"/>
              <a:t>behavior</a:t>
            </a:r>
            <a:r>
              <a:rPr lang="en-IN" sz="1800"/>
              <a:t>. </a:t>
            </a:r>
          </a:p>
          <a:p>
            <a:r>
              <a:rPr lang="en-IN" sz="1800" b="1"/>
              <a:t>Multi-Modal Input</a:t>
            </a:r>
            <a:r>
              <a:rPr lang="en-IN" sz="1800"/>
              <a:t> – Supports text, voice, and image-based meal tracking for better usability. </a:t>
            </a:r>
          </a:p>
          <a:p>
            <a:r>
              <a:rPr lang="en-IN" sz="1800" b="1"/>
              <a:t>Preventive Healthcare Focus</a:t>
            </a:r>
            <a:r>
              <a:rPr lang="en-IN" sz="1800"/>
              <a:t> – Goes beyond diet planning to provide disease-specific nutrition advice.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proactive digital nutritionist</a:t>
            </a:r>
            <a:r>
              <a:rPr lang="en-IN" sz="1800"/>
              <a:t>, not just a static diet recommendation tool.</a:t>
            </a:r>
            <a:endParaRPr lang="en-US"/>
          </a:p>
          <a:p>
            <a:endParaRPr lang="en-IN"/>
          </a:p>
        </p:txBody>
      </p:sp>
    </p:spTree>
    <p:extLst>
      <p:ext uri="{BB962C8B-B14F-4D97-AF65-F5344CB8AC3E}">
        <p14:creationId xmlns:p14="http://schemas.microsoft.com/office/powerpoint/2010/main" val="917964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90882" y="12953"/>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sp>
        <p:nvSpPr>
          <p:cNvPr id="3" name="TextBox 2">
            <a:extLst>
              <a:ext uri="{FF2B5EF4-FFF2-40B4-BE49-F238E27FC236}">
                <a16:creationId xmlns:a16="http://schemas.microsoft.com/office/drawing/2014/main" id="{4837D5EE-379B-FDC5-0854-8AC81D31FADF}"/>
              </a:ext>
            </a:extLst>
          </p:cNvPr>
          <p:cNvSpPr txBox="1"/>
          <p:nvPr/>
        </p:nvSpPr>
        <p:spPr>
          <a:xfrm>
            <a:off x="408115" y="503794"/>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err="1"/>
              <a:t>credly</a:t>
            </a:r>
            <a:r>
              <a:rPr lang="en-US" sz="2800" b="1" dirty="0"/>
              <a:t> certificate </a:t>
            </a:r>
          </a:p>
        </p:txBody>
      </p:sp>
      <p:pic>
        <p:nvPicPr>
          <p:cNvPr id="10" name="Picture 9">
            <a:extLst>
              <a:ext uri="{FF2B5EF4-FFF2-40B4-BE49-F238E27FC236}">
                <a16:creationId xmlns:a16="http://schemas.microsoft.com/office/drawing/2014/main" id="{F840091F-DA91-F01F-3558-119ADF3F30B2}"/>
              </a:ext>
            </a:extLst>
          </p:cNvPr>
          <p:cNvPicPr>
            <a:picLocks noChangeAspect="1"/>
          </p:cNvPicPr>
          <p:nvPr/>
        </p:nvPicPr>
        <p:blipFill>
          <a:blip r:embed="rId2"/>
          <a:srcRect/>
          <a:stretch/>
        </p:blipFill>
        <p:spPr>
          <a:xfrm>
            <a:off x="2276384" y="1180903"/>
            <a:ext cx="7222846" cy="5449896"/>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9C3698-991D-7A38-C456-893C84C23FC9}"/>
              </a:ext>
            </a:extLst>
          </p:cNvPr>
          <p:cNvPicPr>
            <a:picLocks noChangeAspect="1"/>
          </p:cNvPicPr>
          <p:nvPr/>
        </p:nvPicPr>
        <p:blipFill>
          <a:blip r:embed="rId2"/>
          <a:srcRect l="1226" r="1226"/>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IBM BOB Certificate</a:t>
            </a:r>
          </a:p>
        </p:txBody>
      </p:sp>
    </p:spTree>
    <p:extLst>
      <p:ext uri="{BB962C8B-B14F-4D97-AF65-F5344CB8AC3E}">
        <p14:creationId xmlns:p14="http://schemas.microsoft.com/office/powerpoint/2010/main" val="2506610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424</TotalTime>
  <Words>1315</Words>
  <Application>Microsoft Office PowerPoint</Application>
  <PresentationFormat>Widescreen</PresentationFormat>
  <Paragraphs>139</Paragraphs>
  <Slides>19</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Mayank Kumar</cp:lastModifiedBy>
  <cp:revision>25</cp:revision>
  <dcterms:created xsi:type="dcterms:W3CDTF">2025-07-08T05:06:56Z</dcterms:created>
  <dcterms:modified xsi:type="dcterms:W3CDTF">2026-07-22T18:22:14Z</dcterms:modified>
</cp:coreProperties>
</file>